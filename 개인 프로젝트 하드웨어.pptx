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6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ef9f8680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ef9f868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ef9f8680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ef9f8680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ef9f8680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ef9f8680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f9f8680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ef9f8680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ef9f8680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ef9f8680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f9f8680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f9f8680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ef9f8680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ef9f8680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ef9f8680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ef9f8680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ef9f8680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ef9f8680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ef9f8680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ef9f8680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f9f8680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ef9f8680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ef9f8680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ef9f8680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ko"/>
            </a:br>
            <a:r>
              <a:rPr lang="ko"/>
              <a:t>(</a:t>
            </a:r>
            <a:r>
              <a:rPr lang="ko"/>
              <a:t>완성된 기체 사진 추가)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25467" l="0" r="0" t="18636"/>
          <a:stretch/>
        </p:blipFill>
        <p:spPr>
          <a:xfrm>
            <a:off x="267075" y="188600"/>
            <a:ext cx="2893200" cy="2292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개발 개요 소개 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본 프로젝트는 고성능 임베디드 시스템(Raspberry Pi 4)과 실시간 제어기(Arduino Uno)를 통합하여, 복잡한 동적 환경에서 특정 대상을 식별하고 자율적으로 추종하는 이동 로봇 시스템을 설계 및 구현하는 것을 목적으로 함.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개발한 이유(계획서에 작성한 개발 목적)</a:t>
            </a:r>
            <a:endParaRPr/>
          </a:p>
          <a:p>
            <a:pPr indent="-307975" lvl="0" marL="1231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ko" sz="1100">
                <a:solidFill>
                  <a:schemeClr val="dk1"/>
                </a:solidFill>
              </a:rPr>
              <a:t>단순 형상 인식의 한계를 극복하기 위해 </a:t>
            </a:r>
            <a:r>
              <a:rPr b="1" lang="ko" sz="1100">
                <a:solidFill>
                  <a:schemeClr val="dk1"/>
                </a:solidFill>
              </a:rPr>
              <a:t>YOLOv8 딥러닝 모델</a:t>
            </a:r>
            <a:r>
              <a:rPr lang="ko" sz="1100">
                <a:solidFill>
                  <a:schemeClr val="dk1"/>
                </a:solidFill>
              </a:rPr>
              <a:t>을 도입.</a:t>
            </a:r>
            <a:endParaRPr sz="1600">
              <a:solidFill>
                <a:schemeClr val="dk1"/>
              </a:solidFill>
              <a:highlight>
                <a:srgbClr val="F5F5F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1231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ko" sz="1100">
                <a:solidFill>
                  <a:schemeClr val="dk1"/>
                </a:solidFill>
              </a:rPr>
              <a:t>'인물(Human)' 탐지와 '특정 색상(Blue)' 필터링을 결합한 </a:t>
            </a:r>
            <a:r>
              <a:rPr b="1" lang="ko" sz="1100">
                <a:solidFill>
                  <a:schemeClr val="dk1"/>
                </a:solidFill>
              </a:rPr>
              <a:t>2중 검증 알고리즘</a:t>
            </a:r>
            <a:r>
              <a:rPr lang="ko" sz="1100">
                <a:solidFill>
                  <a:schemeClr val="dk1"/>
                </a:solidFill>
              </a:rPr>
              <a:t>을 설계하여, 다양한 배경 노이즈 속에서도 타겟만을 정확히 식별하도록 구현함.</a:t>
            </a:r>
            <a:endParaRPr sz="1600">
              <a:solidFill>
                <a:schemeClr val="dk1"/>
              </a:solidFill>
              <a:highlight>
                <a:srgbClr val="F5F5F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1231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ko" sz="1600">
                <a:solidFill>
                  <a:schemeClr val="dk1"/>
                </a:solidFill>
                <a:highlight>
                  <a:srgbClr val="F5F5F5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기존 단방향 센서의 사각지대 문제를 해결하기 위해 360도 스캔형 LiDAR(RPLidar A1)를 탑재.</a:t>
            </a:r>
            <a:endParaRPr sz="1600">
              <a:solidFill>
                <a:schemeClr val="dk1"/>
              </a:solidFill>
              <a:highlight>
                <a:srgbClr val="F5F5F5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7975" lvl="0" marL="1231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Char char="●"/>
            </a:pPr>
            <a:r>
              <a:rPr lang="ko" sz="1100">
                <a:solidFill>
                  <a:schemeClr val="dk1"/>
                </a:solidFill>
              </a:rPr>
              <a:t>주행 중 모든 방향의 장애물을 실시간으로 감지하고, 위험 거리 침범 시 비전 명령보다 우선하는 </a:t>
            </a:r>
            <a:r>
              <a:rPr b="1" lang="ko" sz="1100">
                <a:solidFill>
                  <a:schemeClr val="dk1"/>
                </a:solidFill>
              </a:rPr>
              <a:t>Safety Override(강제 후진)</a:t>
            </a:r>
            <a:r>
              <a:rPr lang="ko" sz="1100">
                <a:solidFill>
                  <a:schemeClr val="dk1"/>
                </a:solidFill>
              </a:rPr>
              <a:t> 로직을 통해 하드웨어 보호 및 주행 안정성 확보.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부품 소개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센서 : 라이다(</a:t>
            </a:r>
            <a:r>
              <a:rPr lang="ko">
                <a:solidFill>
                  <a:schemeClr val="dk1"/>
                </a:solidFill>
              </a:rPr>
              <a:t>rplidar a1m8</a:t>
            </a:r>
            <a:r>
              <a:rPr lang="ko"/>
              <a:t>), MPU6050, 엔코더(HC - 020K)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MCU : 아두이노 우노 R3 - 제어기 역할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SBC : 라즈베리파이 4 Model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액츄에이터(4WD DC TT Motor)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배터리(3.7V, 10000mAh, 37Wh)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각 부품별 사진 첨부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17094" l="18143" r="10002" t="15128"/>
          <a:stretch/>
        </p:blipFill>
        <p:spPr>
          <a:xfrm>
            <a:off x="4267975" y="1927475"/>
            <a:ext cx="1190475" cy="11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0500" y="1958621"/>
            <a:ext cx="1403975" cy="157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24600" y="1855595"/>
            <a:ext cx="1209675" cy="1367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25270" y="3533345"/>
            <a:ext cx="1367700" cy="13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62747" y="3697922"/>
            <a:ext cx="1607375" cy="16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부품 선정 이유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라즈베리파이 4 (SBC):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이유:</a:t>
            </a:r>
            <a:r>
              <a:rPr lang="ko" sz="1100">
                <a:solidFill>
                  <a:schemeClr val="dk1"/>
                </a:solidFill>
              </a:rPr>
              <a:t> 리눅스(Ubuntu) 환경에서 ROS2 미들웨어를 안정적으로 구동하고, YOLOv8과 같은 AI 모델의 실시간 추론을 처리하기 위해 쿼드코어 CPU와 충분한 RAM(4GB 이상)을 보유한 라즈베리파이를 선정함.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아두이노 우노 (MCU):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이유:</a:t>
            </a:r>
            <a:r>
              <a:rPr lang="ko" sz="1100">
                <a:solidFill>
                  <a:schemeClr val="dk1"/>
                </a:solidFill>
              </a:rPr>
              <a:t> OS 기반의 SBC는 실시간성이 떨어져 모터 타이밍 제어나 엔코더 펄스 측정 시 데이터 손실이 발생할 수 있음. 따라서 하위 제어(Low-level) 전용으로 아두이노를 배치하여 하드웨어 응답 속도를 극대화함.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RPLidar A1M8 (360도 라이다):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이유:</a:t>
            </a:r>
            <a:r>
              <a:rPr lang="ko" sz="1100">
                <a:solidFill>
                  <a:schemeClr val="dk1"/>
                </a:solidFill>
              </a:rPr>
              <a:t> 기존 단방향 센서와 달리 12m 범위의 360도 전 영역을 초당 수천 번 스캔하여 정밀한 맵핑(SLAM)과 사각지대 없는 장애물 회피가 가능함.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MPU6050 (6축 IMU):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이유:</a:t>
            </a:r>
            <a:r>
              <a:rPr lang="ko" sz="1100">
                <a:solidFill>
                  <a:schemeClr val="dk1"/>
                </a:solidFill>
              </a:rPr>
              <a:t> 바퀴의 미끄러짐이나 지면의 불균형으로 인한 오차를 보정하기 위해 기체의 회전 각도(Yaw) 데이터를 수집, Odometry(주행 거리 측정)의 신뢰도를 높임.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HC-020K (광학식 엔코더):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이유:</a:t>
            </a:r>
            <a:r>
              <a:rPr lang="ko" sz="1100">
                <a:solidFill>
                  <a:schemeClr val="dk1"/>
                </a:solidFill>
              </a:rPr>
              <a:t> 모터의 실제 회전수를 실시간으로 피드백 받아 이동 거리와 속도를 정밀하게 제어하기 위한 필수 부품으로 선정.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chemeClr val="dk1"/>
                </a:solidFill>
              </a:rPr>
              <a:t>4WD TT Motor &amp; L293D Shield: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이유:</a:t>
            </a:r>
            <a:r>
              <a:rPr lang="ko" sz="1100">
                <a:solidFill>
                  <a:schemeClr val="dk1"/>
                </a:solidFill>
              </a:rPr>
              <a:t> 네 바퀴를 독립적으로 제어하여 회전 반경을 최소화하고, 안정적인 접지력을 통해 실내 주행에 최적화된 구동력을 제공함.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설계 의의: 4륜 구동(4WD) 시스템</a:t>
            </a:r>
            <a:endParaRPr b="1" sz="1100">
              <a:solidFill>
                <a:schemeClr val="dk1"/>
              </a:solidFill>
            </a:endParaRPr>
          </a:p>
          <a:p>
            <a:pPr indent="-28797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안정적인 조향 제어:</a:t>
            </a:r>
            <a:r>
              <a:rPr lang="ko" sz="1100">
                <a:solidFill>
                  <a:schemeClr val="dk1"/>
                </a:solidFill>
              </a:rPr>
              <a:t> 2륜 구동 대비 균형 잡힌 무게 배분이 가능하며, 네 지점의 엔코더 데이터를 융합하여 기체의 위치 추정 오차를 줄일 수 있음.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개발 환경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28250" y="1108450"/>
            <a:ext cx="8704200" cy="40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3408">
                <a:solidFill>
                  <a:schemeClr val="dk1"/>
                </a:solidFill>
              </a:rPr>
              <a:t>1.  </a:t>
            </a:r>
            <a:r>
              <a:rPr lang="ko" sz="3408">
                <a:solidFill>
                  <a:schemeClr val="dk1"/>
                </a:solidFill>
              </a:rPr>
              <a:t>System OS &amp; Middleware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Operating System: * Main Control: Linux (Ubuntu 22.04 LTS Server) - 라즈베리파이 4 구동 환경</a:t>
            </a:r>
            <a:endParaRPr sz="3408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ko" sz="3408">
                <a:solidFill>
                  <a:schemeClr val="dk1"/>
                </a:solidFill>
              </a:rPr>
              <a:t>PC/Laptop: Windows 11 / Linux (Ubuntu 22.04) - 개발 및 시뮬레이션 환경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Middleware: * ROS2 Humble: 분산 시스템 환경에서 노드 간 통신 및 센서 데이터 통합 관리를 위한 핵심 프레임워크 (Colcon build 시스템 활용)</a:t>
            </a:r>
            <a:endParaRPr sz="34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280"/>
              <a:buFont typeface="Arial"/>
              <a:buNone/>
            </a:pPr>
            <a:r>
              <a:rPr lang="ko" sz="3408">
                <a:solidFill>
                  <a:schemeClr val="dk1"/>
                </a:solidFill>
              </a:rPr>
              <a:t>2. Programming Languages &amp; Compilers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Python (v3.10): * 사용처: 라즈베리파이 메인 로직 (YOLOv8 추론, OpenCV 비전 처리, LiDAR 장애물 회피 알고리즘, Flask 웹 서버)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C/C++: * 사용처: 아두이노 하위 제어 (I2C 통신, 모터 PWM 제어, 엔코더 펄스 인터럽트 처리, MPU6050 센서 퓨전)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Compiler: * PC/Raspberry Pi: GCC/G++ (C++), Python Interpreter</a:t>
            </a:r>
            <a:endParaRPr sz="3408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ko" sz="3408">
                <a:solidFill>
                  <a:schemeClr val="dk1"/>
                </a:solidFill>
              </a:rPr>
              <a:t>Arduino: AVR-GCC (Arduino IDE 기반 컴파일 및 업로드)</a:t>
            </a:r>
            <a:endParaRPr sz="34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280"/>
              <a:buFont typeface="Arial"/>
              <a:buNone/>
            </a:pPr>
            <a:r>
              <a:rPr lang="ko" sz="3408">
                <a:solidFill>
                  <a:schemeClr val="dk1"/>
                </a:solidFill>
              </a:rPr>
              <a:t>3. Development Tools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Editor: Visual Studio Code (VSCode) - 원격 SSH 접속을 통한 라즈베리파이 실시간 코딩 및 디버깅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IDE: Arduino IDE - MCU 펌웨어 작성 및 업로드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Simulation: Tinkercad - 회로 설계 검증 및 부품 간 간섭 체크</a:t>
            </a:r>
            <a:endParaRPr sz="34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280"/>
              <a:buFont typeface="Arial"/>
              <a:buNone/>
            </a:pPr>
            <a:r>
              <a:rPr lang="ko" sz="3408">
                <a:solidFill>
                  <a:schemeClr val="dk1"/>
                </a:solidFill>
              </a:rPr>
              <a:t>4. 형상 관리 (Version Control)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GitHub: 전체 소스코드 버전 관리 및 이슈 트래킹</a:t>
            </a:r>
            <a:endParaRPr sz="3408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ko" sz="3408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robot_ws/src/</a:t>
            </a:r>
            <a:r>
              <a:rPr lang="ko" sz="3408">
                <a:solidFill>
                  <a:schemeClr val="dk1"/>
                </a:solidFill>
              </a:rPr>
              <a:t> 내 ROS2 패키지 및 Arduino 프로젝트 소스 관리 </a:t>
            </a:r>
            <a:endParaRPr sz="3408">
              <a:solidFill>
                <a:schemeClr val="dk1"/>
              </a:solidFill>
            </a:endParaRPr>
          </a:p>
          <a:p>
            <a:pPr indent="-282697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ko" sz="3408">
                <a:solidFill>
                  <a:schemeClr val="dk1"/>
                </a:solidFill>
              </a:rPr>
              <a:t>깃주소</a:t>
            </a:r>
            <a:endParaRPr sz="34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2280"/>
              <a:buFont typeface="Arial"/>
              <a:buNone/>
            </a:pPr>
            <a:r>
              <a:rPr lang="ko" sz="3408">
                <a:solidFill>
                  <a:schemeClr val="dk1"/>
                </a:solidFill>
              </a:rPr>
              <a:t>5. AI &amp; Vision Model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AI Model: YOLOv8 Nano (YOLOv8n)</a:t>
            </a:r>
            <a:endParaRPr sz="3408">
              <a:solidFill>
                <a:schemeClr val="dk1"/>
              </a:solidFill>
            </a:endParaRPr>
          </a:p>
          <a:p>
            <a:pPr indent="-282697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ko" sz="3408">
                <a:solidFill>
                  <a:schemeClr val="dk1"/>
                </a:solidFill>
              </a:rPr>
              <a:t>Optimizer: NCNN (Tencent) - 라즈베리파이 ARM CPU 환경에서 실시간 추론 속도(FPS)를 확보하기 위한 딥러닝 추론 프레임워크 최적화 적용</a:t>
            </a:r>
            <a:endParaRPr sz="3408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1977" y="113102"/>
            <a:ext cx="1121873" cy="103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13850" y="261573"/>
            <a:ext cx="1255850" cy="74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1022" y="235950"/>
            <a:ext cx="1336875" cy="99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3408"/>
              <a:t>패키지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44988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408"/>
              <a:buChar char="○"/>
            </a:pPr>
            <a:r>
              <a:rPr lang="ko" sz="3408">
                <a:solidFill>
                  <a:schemeClr val="dk1"/>
                </a:solidFill>
              </a:rPr>
              <a:t>Ultralytics, OpenCV-Python, smbus2, NumPy, Flask</a:t>
            </a:r>
            <a:endParaRPr sz="3408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보드 조립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1. 하드웨어 연결 구성 (회로도 및 핀 맵)</a:t>
            </a:r>
            <a:endParaRPr b="1"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SBC (Raspberry Pi 4) ↔ MCU (Arduino Uno) 인터페이스</a:t>
            </a:r>
            <a:endParaRPr b="1"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연결 방식:</a:t>
            </a:r>
            <a:r>
              <a:rPr lang="ko" sz="1100">
                <a:solidFill>
                  <a:schemeClr val="dk1"/>
                </a:solidFill>
              </a:rPr>
              <a:t> I2C 통신 (Master-Slave 구조)</a:t>
            </a:r>
            <a:endParaRPr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주요 핀:</a:t>
            </a:r>
            <a:r>
              <a:rPr lang="ko" sz="1100">
                <a:solidFill>
                  <a:schemeClr val="dk1"/>
                </a:solidFill>
              </a:rPr>
              <a:t> * Raspberry Pi: GPIO 2 (SDA), GPIO 3 (SCL)</a:t>
            </a:r>
            <a:endParaRPr sz="1100">
              <a:solidFill>
                <a:schemeClr val="dk1"/>
              </a:solidFill>
            </a:endParaRPr>
          </a:p>
          <a:p>
            <a:pPr indent="-267018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■"/>
            </a:pPr>
            <a:r>
              <a:rPr lang="ko" sz="1100">
                <a:solidFill>
                  <a:schemeClr val="dk1"/>
                </a:solidFill>
              </a:rPr>
              <a:t>Arduino: A4 (SDA), A5 (SCL)</a:t>
            </a:r>
            <a:endParaRPr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설계 포인트:</a:t>
            </a:r>
            <a:r>
              <a:rPr lang="ko" sz="1100">
                <a:solidFill>
                  <a:schemeClr val="dk1"/>
                </a:solidFill>
              </a:rPr>
              <a:t> 전압 레벨 차이 및 신호 간섭 방지를 위해 아두이노 내부 풀업 저항을 비활성화하고 안정적인 데이터 송수신 환경 구축.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센서 및 액추에이터 연결 (Arduino Uno 기준)</a:t>
            </a:r>
            <a:endParaRPr b="1"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엔코더 (HC-020K):</a:t>
            </a:r>
            <a:r>
              <a:rPr lang="ko" sz="1100">
                <a:solidFill>
                  <a:schemeClr val="dk1"/>
                </a:solidFill>
              </a:rPr>
              <a:t> A0, A1, A2, A3 (디지털 신호 입력으로 휠 회전수 카운트)</a:t>
            </a:r>
            <a:endParaRPr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IMU (MPU6050):</a:t>
            </a:r>
            <a:r>
              <a:rPr lang="ko" sz="1100">
                <a:solidFill>
                  <a:schemeClr val="dk1"/>
                </a:solidFill>
              </a:rPr>
              <a:t> I2C 공유 (SDA/SCL) - 기체 기울기 및 회전 각도 수집</a:t>
            </a:r>
            <a:endParaRPr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모터 드라이버 (L293D Shield):</a:t>
            </a:r>
            <a:r>
              <a:rPr lang="ko" sz="1100">
                <a:solidFill>
                  <a:schemeClr val="dk1"/>
                </a:solidFill>
              </a:rPr>
              <a:t> 4WD TT 모터 구동용 디지털/PWM 핀 할당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2. 센서 통신 프로토콜 (Communication Protocols)</a:t>
            </a:r>
            <a:endParaRPr b="1"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LiDAR (RPLidar A1M8) ↔ Raspberry Pi: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방식: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USB (Serial to USB)</a:t>
            </a:r>
            <a:endParaRPr b="1"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규격:</a:t>
            </a:r>
            <a:r>
              <a:rPr lang="ko" sz="1100">
                <a:solidFill>
                  <a:schemeClr val="dk1"/>
                </a:solidFill>
              </a:rPr>
              <a:t> UART 기반 Serial 통신 (데이터는 라즈베리파이 USB 포트를 통해 직접 수신)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Arduino ↔ Raspberry Pi: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방식: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I2C (Inter-Integrated Circuit)</a:t>
            </a:r>
            <a:endParaRPr b="1" sz="1100">
              <a:solidFill>
                <a:schemeClr val="dk1"/>
              </a:solidFill>
            </a:endParaRPr>
          </a:p>
          <a:p>
            <a:pPr indent="-267018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b="1" lang="ko" sz="1100">
                <a:solidFill>
                  <a:schemeClr val="dk1"/>
                </a:solidFill>
              </a:rPr>
              <a:t>의의:</a:t>
            </a:r>
            <a:r>
              <a:rPr lang="ko" sz="1100">
                <a:solidFill>
                  <a:schemeClr val="dk1"/>
                </a:solidFill>
              </a:rPr>
              <a:t> 다수의 슬레이브 기기를 관리하기 용이하며, 배선이 단순하고 고속 데이터 처리가 가능하여 실시간 명령 전달에 최적화됨.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IMU ↔ Arduino:</a:t>
            </a:r>
            <a:r>
              <a:rPr lang="ko" sz="1100">
                <a:solidFill>
                  <a:schemeClr val="dk1"/>
                </a:solidFill>
              </a:rPr>
              <a:t> * </a:t>
            </a:r>
            <a:r>
              <a:rPr b="1" lang="ko" sz="1100">
                <a:solidFill>
                  <a:schemeClr val="dk1"/>
                </a:solidFill>
              </a:rPr>
              <a:t>방식: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b="1" lang="ko" sz="1100">
                <a:solidFill>
                  <a:schemeClr val="dk1"/>
                </a:solidFill>
              </a:rPr>
              <a:t>I2C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ko" sz="1100">
                <a:solidFill>
                  <a:schemeClr val="dk1"/>
                </a:solidFill>
              </a:rPr>
              <a:t>3. 시스템 블록도 (Data Flow)</a:t>
            </a:r>
            <a:endParaRPr b="1"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[Perception Layer]:</a:t>
            </a:r>
            <a:r>
              <a:rPr lang="ko" sz="1100">
                <a:solidFill>
                  <a:schemeClr val="dk1"/>
                </a:solidFill>
              </a:rPr>
              <a:t> LiDAR(USB), Camera(CSI/USB) → Raspberry Pi (AI 및 장애물 판단)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[Decision Layer]:</a:t>
            </a:r>
            <a:r>
              <a:rPr lang="ko" sz="1100">
                <a:solidFill>
                  <a:schemeClr val="dk1"/>
                </a:solidFill>
              </a:rPr>
              <a:t> Raspberry Pi → I2C 명령 하달 ('F', 'B', 'L', 'R', 'S') → Arduino</a:t>
            </a:r>
            <a:endParaRPr sz="1100">
              <a:solidFill>
                <a:schemeClr val="dk1"/>
              </a:solidFill>
            </a:endParaRPr>
          </a:p>
          <a:p>
            <a:pPr indent="-26701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ko" sz="1100">
                <a:solidFill>
                  <a:schemeClr val="dk1"/>
                </a:solidFill>
              </a:rPr>
              <a:t>[Action Layer]:</a:t>
            </a:r>
            <a:r>
              <a:rPr lang="ko" sz="1100">
                <a:solidFill>
                  <a:schemeClr val="dk1"/>
                </a:solidFill>
              </a:rPr>
              <a:t> Arduino → PWM 제어 → L293D → 4WD 모터 구동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코드 얘기 보드간 통신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I2C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보드간 인터페이스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코드 사진 첨부(아두이노, 라즈베리파이에서 어떤 자료형 썼는지 부분)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주행 사진 같은것도 있으면 좋음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토픽 + 노드 구조(rqt 사진 첨부)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센서 토픽 어떻게 되었는지 토픽 이름, 구조 (두 장에 걸쳐서 코드 사진도 첨부)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TF </a:t>
            </a:r>
            <a:r>
              <a:rPr lang="ko"/>
              <a:t>설계 제일 중요(핵심)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각 TF의 의의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odom - </a:t>
            </a:r>
            <a:r>
              <a:rPr lang="ko"/>
              <a:t>값을 보정하는 역할(코드 첨부)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base_link 기기의 중앙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laser 라이다의 중앙(위치가 같으면 같다는 언급 추가 세타는 다름)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map은 처음에 base_link와 동일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slam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cartography lua </a:t>
            </a:r>
            <a:r>
              <a:rPr lang="ko"/>
              <a:t>첨부(frame id 맞춘거)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맵그린 사진 첨부 실제 맵과 얼만큼 동일한지 내용 첨부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프로그램 소스파일 구조도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워크스페이스 -src- 패키지(PC_라즈베리파이)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아두이노는 다름(소스코드 IDE 사진 첨부)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실제 주행 영상 slam 만드는거 영상 링크 첨부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구글 드라이브 유튜브 나만보기 이런거 이용해서 링크 첨부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썸네일 사진 정도는 첨부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